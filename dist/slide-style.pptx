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658368" cy="640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PRODUCT VISION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0116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 spc="-40">
                <a:solidFill>
                  <a:srgbClr val="1D1D1F"/>
                </a:solidFill>
                <a:latin typeface="Helvetica Neue"/>
              </a:rPr>
              <a:t>Designing with clarity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A minimalist system for professional decks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 · Cover / 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93C5FD"/>
                </a:solidFill>
                <a:latin typeface="Helvetica Neu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spc="-40">
                <a:solidFill>
                  <a:srgbClr val="FFFFFF"/>
                </a:solidFill>
                <a:latin typeface="Helvetica Neue"/>
              </a:rPr>
              <a:t>The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2 · Section divider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spc="-40">
                <a:solidFill>
                  <a:srgbClr val="1D1D1F"/>
                </a:solidFill>
                <a:latin typeface="Helvetica Neue"/>
              </a:rPr>
              <a:t>Professionalism comes from hierarchy, not decoration.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3 · Big statement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Heading sits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6858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Body copy in Graphite, generous line-height. One idea per slide; keep supporting detail tight and scannable.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4 · Heading + body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What guides the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5511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468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Hierarchy over decoration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369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154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One idea per slide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9227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A single accent, used deliberately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6085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526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Whitespace is a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5 · Minimal list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Two columns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D1D1F"/>
                </a:solidFill>
                <a:latin typeface="Helvetica Neue"/>
              </a:rPr>
              <a:t>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First column body content sits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D1D1F"/>
                </a:solidFill>
                <a:latin typeface="Helvetica Neue"/>
              </a:rPr>
              <a:t>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260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Second column body content sits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6 · Two column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Impact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4ED8"/>
                </a:solidFill>
                <a:latin typeface="Helvetica Neue"/>
              </a:rPr>
              <a:t>3.2×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faster to draft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1D1F"/>
                </a:solidFill>
                <a:latin typeface="Helvetica Neue"/>
              </a:rPr>
              <a:t>100%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on-brand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4ED8"/>
                </a:solidFill>
                <a:latin typeface="Helvetica Neue"/>
              </a:rPr>
              <a:t>12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layouts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7 · Color cards / KPI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KEY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Highlight a term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4754880" cy="914400"/>
          </a:xfrm>
          <a:prstGeom prst="roundRect">
            <a:avLst>
              <a:gd name="adj" fmla="val 12000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6337A"/>
                </a:solidFill>
                <a:latin typeface="Helvetica Neue"/>
              </a:rPr>
              <a:t>the one number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Supporting sentence explains why it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8 · Highlight / callout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How a deck is 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Content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title · body · concept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79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D4ED8"/>
                </a:solidFill>
                <a:latin typeface="Helvetica Neue"/>
              </a:rPr>
              <a:t>Style template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theme + 12 layouts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08960" y="3383280"/>
            <a:ext cx="502919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Claude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python-pptx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97879" y="3383280"/>
            <a:ext cx="502921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18972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.pptx deck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editable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0" y="3383280"/>
            <a:ext cx="502920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9a · Architecture — 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Platform layers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2222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C2410C"/>
                </a:solidFill>
                <a:latin typeface="Helvetica Neue"/>
              </a:rPr>
              <a:t>   Presentation ·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560320"/>
            <a:ext cx="182880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100" b="1" spc="170">
                <a:solidFill>
                  <a:srgbClr val="C2410C"/>
                </a:solidFill>
                <a:latin typeface="Helvetica Neue"/>
              </a:rPr>
              <a:t>SERVE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03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E8FBFC"/>
          </a:solidFill>
          <a:ln w="22225">
            <a:solidFill>
              <a:srgbClr val="22B5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0A6E6F"/>
                </a:solidFill>
                <a:latin typeface="Helvetica Neue"/>
              </a:rPr>
              <a:t>   Application · services &amp;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703320"/>
            <a:ext cx="182880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100" b="1" spc="170">
                <a:solidFill>
                  <a:srgbClr val="0A6E6F"/>
                </a:solidFill>
                <a:latin typeface="Helvetica Neue"/>
              </a:rPr>
              <a:t>PROCESS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846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1D4ED8"/>
                </a:solidFill>
                <a:latin typeface="Helvetica Neue"/>
              </a:rPr>
              <a:t>   Data · storage &amp; 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4846320"/>
            <a:ext cx="182880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100" b="1" spc="170">
                <a:solidFill>
                  <a:srgbClr val="1D4ED8"/>
                </a:solidFill>
                <a:latin typeface="Helvetica Neue"/>
              </a:rPr>
              <a:t>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9b · Architecture — layered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Service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10515600" cy="237744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6E6E73"/>
                </a:solidFill>
                <a:latin typeface="Helvetica Neue"/>
              </a:rPr>
              <a:t>CORE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API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D4ED8"/>
                </a:solidFill>
                <a:latin typeface="Helvetica Neue"/>
              </a:rPr>
              <a:t>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Cache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9c · Architecture — nested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VISUAL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Image + caption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188720"/>
            <a:ext cx="5120640" cy="420624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AEAEB2"/>
                </a:solidFill>
                <a:latin typeface="Helvetica Neue"/>
              </a:rPr>
              <a:t>[ image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Body sits left; image fills the right half.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5486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6E6E73"/>
                </a:solidFill>
                <a:latin typeface="Helvetica Neue"/>
              </a:rPr>
              <a:t>Figure 1 — caption in Slate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10 · Image + caption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9456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spc="-40">
                <a:solidFill>
                  <a:srgbClr val="1D1D1F"/>
                </a:solidFill>
                <a:latin typeface="Helvetica Neue"/>
              </a:rPr>
              <a:t>“Good design is as little design as possible.”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6E6E73"/>
                </a:solidFill>
                <a:latin typeface="Helvetica Neue"/>
              </a:rPr>
              <a:t>— Dieter 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11 · Quote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05272" y="2468880"/>
            <a:ext cx="658368" cy="640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1D1D1F"/>
                </a:solidFill>
                <a:latin typeface="Helvetica Neue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6E6E73"/>
                </a:solidFill>
                <a:latin typeface="Helvetica Neue"/>
              </a:rPr>
              <a:t>questions → hello@example.com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12 · Closing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D1D1F"/>
      </a:dk1>
      <a:lt1>
        <a:srgbClr val="FFFFFF"/>
      </a:lt1>
      <a:dk2>
        <a:srgbClr val="424245"/>
      </a:dk2>
      <a:lt2>
        <a:srgbClr val="F5F5F7"/>
      </a:lt2>
      <a:accent1>
        <a:srgbClr val="2563EB"/>
      </a:accent1>
      <a:accent2>
        <a:srgbClr val="22B5B7"/>
      </a:accent2>
      <a:accent3>
        <a:srgbClr val="F97316"/>
      </a:accent3>
      <a:accent4>
        <a:srgbClr val="1D4ED8"/>
      </a:accent4>
      <a:accent5>
        <a:srgbClr val="0A6E6F"/>
      </a:accent5>
      <a:accent6>
        <a:srgbClr val="C2410C"/>
      </a:accent6>
      <a:hlink>
        <a:srgbClr val="2563EB"/>
      </a:hlink>
      <a:folHlink>
        <a:srgbClr val="1D4ED8"/>
      </a:folHlink>
    </a:clrScheme>
    <a:fontScheme name="Office">
      <a:majorFont>
        <a:latin typeface="Helvetica Neu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Helvetica Neu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