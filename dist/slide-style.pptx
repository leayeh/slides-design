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65836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PRODUCT VISION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spc="-40">
                <a:solidFill>
                  <a:srgbClr val="1D1D1F"/>
                </a:solidFill>
                <a:latin typeface="Helvetica Neue"/>
              </a:rPr>
              <a:t>Designing with clarity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A minimalist system for professional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1 · Cover /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93C5FD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spc="-40">
                <a:solidFill>
                  <a:srgbClr val="FFFFFF"/>
                </a:solidFill>
                <a:latin typeface="Helvetica Neue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2 · Section divider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spc="-40">
                <a:solidFill>
                  <a:srgbClr val="1D1D1F"/>
                </a:solidFill>
                <a:latin typeface="Helvetica Neue"/>
              </a:rPr>
              <a:t>Professionalism comes from hierarchy, not decoration.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3 · Big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Heading sits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Body copy in Graphite, generous line-height. One idea per slide; keep supporting detail tight and scannable.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4 · Heading + body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What guides the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55117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Hierarchy over decoration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3697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5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One idea per slide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2277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A single accent, used deliberately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60857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26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Whitespace is a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5 · Minimal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Two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D1D1F"/>
                </a:solidFill>
                <a:latin typeface="Helvetica Neue"/>
              </a:rPr>
              <a:t>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First column body content sits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D1D1F"/>
                </a:solidFill>
                <a:latin typeface="Helvetica Neue"/>
              </a:rPr>
              <a:t>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Second column body content sits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6 · Two column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Impact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EA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sz="3000" b="1">
                <a:solidFill>
                  <a:srgbClr val="1D4ED8"/>
                </a:solidFill>
                <a:latin typeface="Helvetica Neue"/>
              </a:rPr>
              <a:t>3.2×</a:t>
            </a:r>
          </a:p>
          <a:p>
            <a:r>
              <a:rPr sz="1200">
                <a:solidFill>
                  <a:srgbClr val="6E6E73"/>
                </a:solidFill>
                <a:latin typeface="Helvetica Neue"/>
              </a:rPr>
              <a:t>faster to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65176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sz="3000" b="1">
                <a:solidFill>
                  <a:srgbClr val="1D1D1F"/>
                </a:solidFill>
                <a:latin typeface="Helvetica Neue"/>
              </a:rPr>
              <a:t>100%</a:t>
            </a:r>
          </a:p>
          <a:p>
            <a:r>
              <a:rPr sz="1200">
                <a:solidFill>
                  <a:srgbClr val="6E6E73"/>
                </a:solidFill>
                <a:latin typeface="Helvetica Neue"/>
              </a:rPr>
              <a:t>on-brand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65176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EA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sz="3000" b="1">
                <a:solidFill>
                  <a:srgbClr val="1D4ED8"/>
                </a:solidFill>
                <a:latin typeface="Helvetica Neue"/>
              </a:rPr>
              <a:t>12</a:t>
            </a:r>
          </a:p>
          <a:p>
            <a:r>
              <a:rPr sz="1200">
                <a:solidFill>
                  <a:srgbClr val="6E6E73"/>
                </a:solidFill>
                <a:latin typeface="Helvetica Neue"/>
              </a:rPr>
              <a:t>layouts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7 · Color cards / KPI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KEY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Highlight a term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6337A"/>
                </a:solidFill>
                <a:latin typeface="Helvetica Neue"/>
              </a:rPr>
              <a:t>the one number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Supporting sentence explains why it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8 · Highlight / callout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How a deck is generated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3464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24245"/>
                </a:solidFill>
                <a:latin typeface="Helvetica Neue"/>
              </a:rPr>
              <a:t>Content</a:t>
            </a:r>
          </a:p>
          <a:p>
            <a:pPr algn="ctr"/>
            <a:r>
              <a:rPr sz="1100">
                <a:solidFill>
                  <a:srgbClr val="6E6E73"/>
                </a:solidFill>
                <a:latin typeface="Helvetica Neue"/>
              </a:rPr>
              <a:t>title · body ·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79" y="283464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 w="222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D4ED8"/>
                </a:solidFill>
                <a:latin typeface="Helvetica Neue"/>
              </a:rPr>
              <a:t>Style template</a:t>
            </a:r>
          </a:p>
          <a:p>
            <a:pPr algn="ctr"/>
            <a:r>
              <a:rPr sz="1100">
                <a:solidFill>
                  <a:srgbClr val="6E6E73"/>
                </a:solidFill>
                <a:latin typeface="Helvetica Neue"/>
              </a:rPr>
              <a:t>theme + 12 layouts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3383280"/>
            <a:ext cx="502919" cy="0"/>
          </a:xfrm>
          <a:prstGeom prst="line">
            <a:avLst/>
          </a:prstGeom>
          <a:ln w="19050">
            <a:solidFill>
              <a:srgbClr val="AEAE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0" y="283464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24245"/>
                </a:solidFill>
                <a:latin typeface="Helvetica Neue"/>
              </a:rPr>
              <a:t>Claude</a:t>
            </a:r>
          </a:p>
          <a:p>
            <a:pPr algn="ctr"/>
            <a:r>
              <a:rPr sz="1100">
                <a:solidFill>
                  <a:srgbClr val="6E6E73"/>
                </a:solidFill>
                <a:latin typeface="Helvetica Neue"/>
              </a:rPr>
              <a:t>python-pptx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97879" y="3383280"/>
            <a:ext cx="502921" cy="0"/>
          </a:xfrm>
          <a:prstGeom prst="line">
            <a:avLst/>
          </a:prstGeom>
          <a:ln w="19050">
            <a:solidFill>
              <a:srgbClr val="AEAE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89720" y="283464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24245"/>
                </a:solidFill>
                <a:latin typeface="Helvetica Neue"/>
              </a:rPr>
              <a:t>.pptx deck</a:t>
            </a:r>
          </a:p>
          <a:p>
            <a:pPr algn="ctr"/>
            <a:r>
              <a:rPr sz="1100">
                <a:solidFill>
                  <a:srgbClr val="6E6E73"/>
                </a:solidFill>
                <a:latin typeface="Helvetica Neue"/>
              </a:rPr>
              <a:t>editable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3383280"/>
            <a:ext cx="502920" cy="0"/>
          </a:xfrm>
          <a:prstGeom prst="line">
            <a:avLst/>
          </a:prstGeom>
          <a:ln w="19050">
            <a:solidFill>
              <a:srgbClr val="AEAE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9a · Architecture —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Platform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FFF3EA"/>
          </a:solidFill>
          <a:ln w="222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C2410C"/>
                </a:solidFill>
                <a:latin typeface="Helvetica Neue"/>
              </a:rPr>
              <a:t>   Presentation ·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560320"/>
            <a:ext cx="18288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 spc="170">
                <a:solidFill>
                  <a:srgbClr val="C2410C"/>
                </a:solidFill>
                <a:latin typeface="Helvetica Neue"/>
              </a:rPr>
              <a:t>SERVE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0332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E8FBFC"/>
          </a:solidFill>
          <a:ln w="22225">
            <a:solidFill>
              <a:srgbClr val="22B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0A6E6F"/>
                </a:solidFill>
                <a:latin typeface="Helvetica Neue"/>
              </a:rPr>
              <a:t>   Application · services &amp;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703320"/>
            <a:ext cx="18288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 spc="170">
                <a:solidFill>
                  <a:srgbClr val="0A6E6F"/>
                </a:solidFill>
                <a:latin typeface="Helvetica Neue"/>
              </a:rPr>
              <a:t>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4632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EAF2FE"/>
          </a:solidFill>
          <a:ln w="222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D4ED8"/>
                </a:solidFill>
                <a:latin typeface="Helvetica Neue"/>
              </a:rPr>
              <a:t>   Data · storage &amp;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4846320"/>
            <a:ext cx="18288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 spc="170">
                <a:solidFill>
                  <a:srgbClr val="1D4ED8"/>
                </a:solidFill>
                <a:latin typeface="Helvetica Neue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9b · Architecture — layered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Service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10515600" cy="237744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6E6E73"/>
                </a:solidFill>
                <a:latin typeface="Helvetica Neue"/>
              </a:rPr>
              <a:t>CORE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9184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24245"/>
                </a:solidFill>
                <a:latin typeface="Helvetica Neue"/>
              </a:rPr>
              <a:t>API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29184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 w="222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D4ED8"/>
                </a:solidFill>
                <a:latin typeface="Helvetica Neue"/>
              </a:rPr>
              <a:t>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29184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24245"/>
                </a:solidFill>
                <a:latin typeface="Helvetica Neue"/>
              </a:rPr>
              <a:t>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9c · Architecture — nested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spc="-40">
                <a:solidFill>
                  <a:srgbClr val="1D1D1F"/>
                </a:solidFill>
                <a:latin typeface="Helvetica Neue"/>
              </a:rPr>
              <a:t>ML lifecycle across environments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" y="3794760"/>
            <a:ext cx="12006072" cy="0"/>
          </a:xfrm>
          <a:prstGeom prst="line">
            <a:avLst/>
          </a:prstGeom>
          <a:ln w="12700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783080" y="1481328"/>
            <a:ext cx="8686800" cy="210312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587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4248" y="1591056"/>
            <a:ext cx="8284464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spc="170">
                <a:solidFill>
                  <a:srgbClr val="C2410C"/>
                </a:solidFill>
                <a:latin typeface="Helvetica Neue"/>
              </a:rPr>
              <a:t>ML TRAINING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4041648"/>
            <a:ext cx="8686800" cy="214884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587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4151376"/>
            <a:ext cx="8284464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spc="170">
                <a:solidFill>
                  <a:srgbClr val="1D4ED8"/>
                </a:solidFill>
                <a:latin typeface="Helvetica Neue"/>
              </a:rPr>
              <a:t>STAGING / PROD PIPELINE</a:t>
            </a:r>
          </a:p>
        </p:txBody>
      </p:sp>
      <p:sp>
        <p:nvSpPr>
          <p:cNvPr id="9" name="Can 8"/>
          <p:cNvSpPr/>
          <p:nvPr/>
        </p:nvSpPr>
        <p:spPr>
          <a:xfrm>
            <a:off x="475488" y="3127248"/>
            <a:ext cx="1097280" cy="1353312"/>
          </a:xfrm>
          <a:prstGeom prst="can">
            <a:avLst/>
          </a:prstGeom>
          <a:solidFill>
            <a:srgbClr val="F5F5F7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24245"/>
                </a:solidFill>
                <a:latin typeface="Helvetica Neue"/>
              </a:rPr>
              <a:t>Data
Warehouse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-731520" y="2304288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spc="170">
                <a:solidFill>
                  <a:srgbClr val="6E6E73"/>
                </a:solidFill>
                <a:latin typeface="Helvetica Neue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731520" y="489204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spc="170">
                <a:solidFill>
                  <a:srgbClr val="6E6E73"/>
                </a:solidFill>
                <a:latin typeface="Helvetica Neue"/>
              </a:rPr>
              <a:t>STAGING / PROD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22860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 w="222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2410C"/>
                </a:solidFill>
                <a:latin typeface="Helvetica Neue"/>
              </a:rPr>
              <a:t>Data Prep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2860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 w="222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2410C"/>
                </a:solidFill>
                <a:latin typeface="Helvetica Neue"/>
              </a:rPr>
              <a:t>Model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2860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 w="222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2410C"/>
                </a:solidFill>
                <a:latin typeface="Helvetica Neue"/>
              </a:rPr>
              <a:t>Model 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651760"/>
            <a:ext cx="594360" cy="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92240" y="2651760"/>
            <a:ext cx="594360" cy="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23860" y="1920240"/>
            <a:ext cx="0" cy="365760"/>
          </a:xfrm>
          <a:prstGeom prst="line">
            <a:avLst/>
          </a:prstGeom>
          <a:ln w="12700">
            <a:solidFill>
              <a:srgbClr val="B4B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554979" y="1920240"/>
            <a:ext cx="2468881" cy="0"/>
          </a:xfrm>
          <a:prstGeom prst="line">
            <a:avLst/>
          </a:prstGeom>
          <a:ln w="12700">
            <a:solidFill>
              <a:srgbClr val="B4B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54979" y="1920240"/>
            <a:ext cx="0" cy="36576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54979" y="1627632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spc="170">
                <a:solidFill>
                  <a:srgbClr val="6E6E73"/>
                </a:solidFill>
                <a:latin typeface="Helvetica Neue"/>
              </a:rPr>
              <a:t>HYPERPARAMETER TUNING</a:t>
            </a:r>
          </a:p>
        </p:txBody>
      </p:sp>
      <p:sp>
        <p:nvSpPr>
          <p:cNvPr id="21" name="Document 20"/>
          <p:cNvSpPr/>
          <p:nvPr/>
        </p:nvSpPr>
        <p:spPr>
          <a:xfrm>
            <a:off x="9326880" y="2286000"/>
            <a:ext cx="1097280" cy="731520"/>
          </a:xfrm>
          <a:prstGeom prst="flowChartDocument">
            <a:avLst/>
          </a:prstGeom>
          <a:solidFill>
            <a:srgbClr val="FFF3E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2410C"/>
                </a:solidFill>
                <a:latin typeface="Helvetica Neue"/>
              </a:rPr>
              <a:t>Trained
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0" y="2651760"/>
            <a:ext cx="365760" cy="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48840" y="47548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24245"/>
                </a:solidFill>
                <a:latin typeface="Helvetica Neue"/>
              </a:rPr>
              <a:t>Data Prep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47548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24245"/>
                </a:solidFill>
                <a:latin typeface="Helvetica Neue"/>
              </a:rPr>
              <a:t>Retrain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47548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24245"/>
                </a:solidFill>
                <a:latin typeface="Helvetica Neue"/>
              </a:rPr>
              <a:t>Validate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23360" y="5120640"/>
            <a:ext cx="594360" cy="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92240" y="5120640"/>
            <a:ext cx="594360" cy="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9144000" y="4572000"/>
            <a:ext cx="1097280" cy="10972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D4ED8"/>
                </a:solidFill>
                <a:latin typeface="Helvetica Neue"/>
              </a:rPr>
              <a:t>Perf
drop?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61120" y="5120640"/>
            <a:ext cx="182880" cy="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2640" y="5669280"/>
            <a:ext cx="0" cy="320040"/>
          </a:xfrm>
          <a:prstGeom prst="line">
            <a:avLst/>
          </a:prstGeom>
          <a:ln w="12700">
            <a:solidFill>
              <a:srgbClr val="B4B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086100" y="5989320"/>
            <a:ext cx="6606540" cy="0"/>
          </a:xfrm>
          <a:prstGeom prst="line">
            <a:avLst/>
          </a:prstGeom>
          <a:ln w="12700">
            <a:solidFill>
              <a:srgbClr val="B4B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086100" y="5486400"/>
            <a:ext cx="0" cy="50292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802367" y="5687568"/>
            <a:ext cx="640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 spc="170">
                <a:solidFill>
                  <a:srgbClr val="1D4ED8"/>
                </a:solidFill>
                <a:latin typeface="Helvetica Neue"/>
              </a:rPr>
              <a:t>YES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572768" y="3291840"/>
            <a:ext cx="301751" cy="0"/>
          </a:xfrm>
          <a:prstGeom prst="line">
            <a:avLst/>
          </a:prstGeom>
          <a:ln w="12700">
            <a:solidFill>
              <a:srgbClr val="B4B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874519" y="2651760"/>
            <a:ext cx="0" cy="640080"/>
          </a:xfrm>
          <a:prstGeom prst="line">
            <a:avLst/>
          </a:prstGeom>
          <a:ln w="12700">
            <a:solidFill>
              <a:srgbClr val="B4B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74519" y="2651760"/>
            <a:ext cx="274321" cy="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517903" y="2944368"/>
            <a:ext cx="71323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17903" y="2944368"/>
            <a:ext cx="7132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spc="170">
                <a:solidFill>
                  <a:srgbClr val="6E6E73"/>
                </a:solidFill>
                <a:latin typeface="Helvetica Neue"/>
              </a:rPr>
              <a:t>POC DATA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572768" y="4297680"/>
            <a:ext cx="301751" cy="0"/>
          </a:xfrm>
          <a:prstGeom prst="line">
            <a:avLst/>
          </a:prstGeom>
          <a:ln w="12700">
            <a:solidFill>
              <a:srgbClr val="B4B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874519" y="4297680"/>
            <a:ext cx="0" cy="822960"/>
          </a:xfrm>
          <a:prstGeom prst="line">
            <a:avLst/>
          </a:prstGeom>
          <a:ln w="12700">
            <a:solidFill>
              <a:srgbClr val="B4B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874519" y="5120640"/>
            <a:ext cx="274321" cy="0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415034" y="4498848"/>
            <a:ext cx="918971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5034" y="4498848"/>
            <a:ext cx="918971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spc="170">
                <a:solidFill>
                  <a:srgbClr val="6E6E73"/>
                </a:solidFill>
                <a:latin typeface="Helvetica Neue"/>
              </a:rPr>
              <a:t>BATCH FETCH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875520" y="3017520"/>
            <a:ext cx="0" cy="1024128"/>
          </a:xfrm>
          <a:prstGeom prst="line">
            <a:avLst/>
          </a:prstGeom>
          <a:ln w="12700">
            <a:solidFill>
              <a:srgbClr val="B4B7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587484" y="3447288"/>
            <a:ext cx="576071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87484" y="3447288"/>
            <a:ext cx="576071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spc="170">
                <a:solidFill>
                  <a:srgbClr val="6E6E73"/>
                </a:solidFill>
                <a:latin typeface="Helvetica Neue"/>
              </a:rPr>
              <a:t>DEPLOY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9d · Architecture — swim-lane (native, editable)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9e · Architecture — swim-lane (SVG, publication-grade)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70">
                <a:solidFill>
                  <a:srgbClr val="1D4ED8"/>
                </a:solidFill>
                <a:latin typeface="Helvetica Neue"/>
              </a:rPr>
              <a:t>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234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spc="-40">
                <a:solidFill>
                  <a:srgbClr val="1D1D1F"/>
                </a:solidFill>
                <a:latin typeface="Helvetica Neue"/>
              </a:rPr>
              <a:t>Image + caption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90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EAEB2"/>
                </a:solidFill>
                <a:latin typeface="Helvetica Neue"/>
              </a:rPr>
              <a:t>[ image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24245"/>
                </a:solidFill>
                <a:latin typeface="Helvetica Neue"/>
              </a:rPr>
              <a:t>Body sits left; image fills the right half.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486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</a:rPr>
              <a:t>Figure 1 — caption in Slate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10 · Image + caption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spc="-40">
                <a:solidFill>
                  <a:srgbClr val="1D1D1F"/>
                </a:solidFill>
                <a:latin typeface="Helvetica Neue"/>
              </a:rPr>
              <a:t>“Good design is as little design as possible.”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6E6E73"/>
                </a:solidFill>
                <a:latin typeface="Helvetica Neue"/>
              </a:rPr>
              <a:t>— Dieter 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11 · Quote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05272" y="2468880"/>
            <a:ext cx="65836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1D1D1F"/>
                </a:solidFill>
                <a:latin typeface="Helvetica Neue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6E6E73"/>
                </a:solidFill>
                <a:latin typeface="Helvetica Neue"/>
              </a:rPr>
              <a:t>questions → hello@example.com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AEAEB2"/>
                </a:solidFill>
                <a:latin typeface="Helvetica Neue"/>
              </a:rPr>
              <a:t>12 ·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D1D1F"/>
      </a:dk1>
      <a:lt1>
        <a:srgbClr val="FFFFFF"/>
      </a:lt1>
      <a:dk2>
        <a:srgbClr val="424245"/>
      </a:dk2>
      <a:lt2>
        <a:srgbClr val="F5F5F7"/>
      </a:lt2>
      <a:accent1>
        <a:srgbClr val="2563EB"/>
      </a:accent1>
      <a:accent2>
        <a:srgbClr val="22B5B7"/>
      </a:accent2>
      <a:accent3>
        <a:srgbClr val="F97316"/>
      </a:accent3>
      <a:accent4>
        <a:srgbClr val="1D4ED8"/>
      </a:accent4>
      <a:accent5>
        <a:srgbClr val="0A6E6F"/>
      </a:accent5>
      <a:accent6>
        <a:srgbClr val="C2410C"/>
      </a:accent6>
      <a:hlink>
        <a:srgbClr val="2563EB"/>
      </a:hlink>
      <a:folHlink>
        <a:srgbClr val="1D4ED8"/>
      </a:folHlink>
    </a:clrScheme>
    <a:fontScheme name="Office">
      <a:maj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