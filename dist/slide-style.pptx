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PRODUCT VISION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spc="-40">
                <a:solidFill>
                  <a:srgbClr val="1D1D1F"/>
                </a:solidFill>
                <a:latin typeface="Helvetica Neue"/>
              </a:rPr>
              <a:t>Designing with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minimalist system for professional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 · Cover /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93C5FD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spc="-40">
                <a:solidFill>
                  <a:srgbClr val="FFFFFF"/>
                </a:solidFill>
                <a:latin typeface="Helvetica Neue"/>
              </a:rPr>
              <a:t>The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2 · Section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spc="-40">
                <a:solidFill>
                  <a:srgbClr val="1D1D1F"/>
                </a:solidFill>
                <a:latin typeface="Helvetica Neue"/>
              </a:rPr>
              <a:t>Professionalism comes from hierarchy, not decoration.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3 · Big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Heading sits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copy in Graphite, generous line-height. One idea per slide; keep supporting detail tight and scannable.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4 · Heading +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What guides the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5511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Hierarchy over decoration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369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One idea per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227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A single accent, used deliberately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6085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26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Whitespace is a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5 · Minimal list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Two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First column body content sits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D1D1F"/>
                </a:solidFill>
                <a:latin typeface="Helvetica Neue"/>
              </a:rPr>
              <a:t>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Second column body content sits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6 · Two column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Impact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3.2×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faster to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1D1F"/>
                </a:solidFill>
                <a:latin typeface="Helvetica Neue"/>
              </a:rPr>
              <a:t>100%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on-brand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651760"/>
            <a:ext cx="3291840" cy="155448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000" b="1">
                <a:solidFill>
                  <a:srgbClr val="1D4ED8"/>
                </a:solidFill>
                <a:latin typeface="Helvetica Neue"/>
              </a:rPr>
              <a:t>12</a:t>
            </a:r>
          </a:p>
          <a:p>
            <a:r>
              <a:rPr sz="1200">
                <a:solidFill>
                  <a:srgbClr val="6E6E73"/>
                </a:solidFill>
                <a:latin typeface="Helvetica Neue"/>
              </a:rPr>
              <a:t>layouts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7 · Color cards /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KEY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Highlight a term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6337A"/>
                </a:solidFill>
                <a:latin typeface="Helvetica Neue"/>
              </a:rPr>
              <a:t>the one number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Supporting sentence explains why it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8 · Highlight / callout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How a deck is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Content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title · body ·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79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Style template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theme + 12 layouts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3383280"/>
            <a:ext cx="502919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Claude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python-pptx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79" y="3383280"/>
            <a:ext cx="502921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189720" y="283464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.pptx deck</a:t>
            </a:r>
          </a:p>
          <a:p>
            <a:pPr algn="ctr"/>
            <a:r>
              <a:rPr sz="1100">
                <a:solidFill>
                  <a:srgbClr val="6E6E73"/>
                </a:solidFill>
                <a:latin typeface="Helvetica Neue"/>
              </a:rPr>
              <a:t>editable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3383280"/>
            <a:ext cx="50292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9a · Architecture — 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Platform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C2410C"/>
                </a:solidFill>
                <a:latin typeface="Helvetica Neue"/>
              </a:rPr>
              <a:t>   Presentation ·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560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C2410C"/>
                </a:solidFill>
                <a:latin typeface="Helvetica Neue"/>
              </a:rPr>
              <a:t>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03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8FBFC"/>
          </a:solidFill>
          <a:ln w="22225">
            <a:solidFill>
              <a:srgbClr val="22B5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0A6E6F"/>
                </a:solidFill>
                <a:latin typeface="Helvetica Neue"/>
              </a:rPr>
              <a:t>   Application · services &amp;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703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0A6E6F"/>
                </a:solidFill>
                <a:latin typeface="Helvetica Neue"/>
              </a:rPr>
              <a:t>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4632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1D4ED8"/>
                </a:solidFill>
                <a:latin typeface="Helvetica Neue"/>
              </a:rPr>
              <a:t>   Data · storage &amp; 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4846320"/>
            <a:ext cx="182880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100" b="1" spc="170">
                <a:solidFill>
                  <a:srgbClr val="1D4ED8"/>
                </a:solidFill>
                <a:latin typeface="Helvetica Neue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9b · Architecture — layered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Service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6E6E73"/>
                </a:solidFill>
                <a:latin typeface="Helvetica Neue"/>
              </a:rPr>
              <a:t>CORE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API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EAF2F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Helvetica Neue"/>
              </a:rPr>
              <a:t>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9184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9c · Architecture — nested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spc="-40">
                <a:solidFill>
                  <a:srgbClr val="1D1D1F"/>
                </a:solidFill>
                <a:latin typeface="Helvetica Neue"/>
              </a:rPr>
              <a:t>ML lifecycle across environments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" y="3794760"/>
            <a:ext cx="12006072" cy="0"/>
          </a:xfrm>
          <a:prstGeom prst="line">
            <a:avLst/>
          </a:prstGeom>
          <a:ln w="12700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783080" y="1481328"/>
            <a:ext cx="8686800" cy="210312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5875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84248" y="1591056"/>
            <a:ext cx="8284464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spc="170">
                <a:solidFill>
                  <a:srgbClr val="C2410C"/>
                </a:solidFill>
                <a:latin typeface="Helvetica Neue"/>
              </a:rPr>
              <a:t>ML TRAINING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4041648"/>
            <a:ext cx="8686800" cy="214884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5875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84248" y="4151376"/>
            <a:ext cx="8284464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spc="170">
                <a:solidFill>
                  <a:srgbClr val="1D4ED8"/>
                </a:solidFill>
                <a:latin typeface="Helvetica Neue"/>
              </a:rPr>
              <a:t>STAGING / PROD PIPELINE</a:t>
            </a:r>
          </a:p>
        </p:txBody>
      </p:sp>
      <p:sp>
        <p:nvSpPr>
          <p:cNvPr id="9" name="Can 8"/>
          <p:cNvSpPr/>
          <p:nvPr/>
        </p:nvSpPr>
        <p:spPr>
          <a:xfrm>
            <a:off x="475488" y="3127248"/>
            <a:ext cx="1097280" cy="1353312"/>
          </a:xfrm>
          <a:prstGeom prst="can">
            <a:avLst/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424245"/>
                </a:solidFill>
                <a:latin typeface="Helvetica Neue"/>
              </a:rPr>
              <a:t>Data
Warehouse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-731520" y="2304288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 spc="170">
                <a:solidFill>
                  <a:srgbClr val="6E6E73"/>
                </a:solidFill>
                <a:latin typeface="Helvetica Neue"/>
              </a:rPr>
              <a:t>DEV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-731520" y="4892040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 spc="170">
                <a:solidFill>
                  <a:srgbClr val="6E6E73"/>
                </a:solidFill>
                <a:latin typeface="Helvetica Neue"/>
              </a:rPr>
              <a:t>STAGING / PROD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22402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2410C"/>
                </a:solidFill>
                <a:latin typeface="Helvetica Neue"/>
              </a:rPr>
              <a:t>Data Prep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2402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2410C"/>
                </a:solidFill>
                <a:latin typeface="Helvetica Neue"/>
              </a:rPr>
              <a:t>Model Training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2402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 w="2222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2410C"/>
                </a:solidFill>
                <a:latin typeface="Helvetica Neue"/>
              </a:rPr>
              <a:t>Model Validation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697480"/>
            <a:ext cx="59436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2697480"/>
            <a:ext cx="59436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023860" y="1828800"/>
            <a:ext cx="0" cy="411480"/>
          </a:xfrm>
          <a:prstGeom prst="line">
            <a:avLst/>
          </a:prstGeom>
          <a:ln w="15875">
            <a:solidFill>
              <a:srgbClr val="AEA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554979" y="1828800"/>
            <a:ext cx="2468881" cy="0"/>
          </a:xfrm>
          <a:prstGeom prst="line">
            <a:avLst/>
          </a:prstGeom>
          <a:ln w="15875">
            <a:solidFill>
              <a:srgbClr val="AEA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54979" y="1828800"/>
            <a:ext cx="0" cy="411480"/>
          </a:xfrm>
          <a:prstGeom prst="line">
            <a:avLst/>
          </a:prstGeom>
          <a:ln w="15875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554979" y="1517904"/>
            <a:ext cx="24688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 spc="170">
                <a:solidFill>
                  <a:srgbClr val="6E6E73"/>
                </a:solidFill>
                <a:latin typeface="Helvetica Neue"/>
              </a:rPr>
              <a:t>HYPERPARAMETER TUNING</a:t>
            </a:r>
          </a:p>
        </p:txBody>
      </p:sp>
      <p:sp>
        <p:nvSpPr>
          <p:cNvPr id="21" name="Document 20"/>
          <p:cNvSpPr/>
          <p:nvPr/>
        </p:nvSpPr>
        <p:spPr>
          <a:xfrm>
            <a:off x="9281160" y="2240280"/>
            <a:ext cx="1143000" cy="914400"/>
          </a:xfrm>
          <a:prstGeom prst="flowChartDocument">
            <a:avLst/>
          </a:prstGeom>
          <a:solidFill>
            <a:srgbClr val="FFF3E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2410C"/>
                </a:solidFill>
                <a:latin typeface="Helvetica Neue"/>
              </a:rPr>
              <a:t>Trained
model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61120" y="2697480"/>
            <a:ext cx="32004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48840" y="470916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Data Prep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470916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Retrain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470916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24245"/>
                </a:solidFill>
                <a:latin typeface="Helvetica Neue"/>
              </a:rPr>
              <a:t>Validate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23360" y="5166360"/>
            <a:ext cx="59436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92240" y="5166360"/>
            <a:ext cx="59436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/>
          <p:cNvSpPr/>
          <p:nvPr/>
        </p:nvSpPr>
        <p:spPr>
          <a:xfrm>
            <a:off x="9189720" y="4572000"/>
            <a:ext cx="1280160" cy="11887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D4ED8"/>
                </a:solidFill>
                <a:latin typeface="Helvetica Neue"/>
              </a:rPr>
              <a:t>Perf
drop?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5166360"/>
            <a:ext cx="228600" cy="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29800" y="5623560"/>
            <a:ext cx="0" cy="365760"/>
          </a:xfrm>
          <a:prstGeom prst="line">
            <a:avLst/>
          </a:prstGeom>
          <a:ln w="15875">
            <a:solidFill>
              <a:srgbClr val="AEA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086100" y="5989320"/>
            <a:ext cx="6743700" cy="0"/>
          </a:xfrm>
          <a:prstGeom prst="line">
            <a:avLst/>
          </a:prstGeom>
          <a:ln w="15875">
            <a:solidFill>
              <a:srgbClr val="AEA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086100" y="5623560"/>
            <a:ext cx="0" cy="365760"/>
          </a:xfrm>
          <a:prstGeom prst="line">
            <a:avLst/>
          </a:prstGeom>
          <a:ln w="15875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869680" y="5971032"/>
            <a:ext cx="10058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 spc="170">
                <a:solidFill>
                  <a:srgbClr val="1D4ED8"/>
                </a:solidFill>
                <a:latin typeface="Helvetica Neue"/>
              </a:rPr>
              <a:t>YES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572768" y="2834640"/>
            <a:ext cx="576072" cy="54864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46404" y="2834640"/>
            <a:ext cx="1828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 spc="170">
                <a:solidFill>
                  <a:srgbClr val="6E6E73"/>
                </a:solidFill>
                <a:latin typeface="Helvetica Neue"/>
              </a:rPr>
              <a:t>POC DATA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572768" y="4251960"/>
            <a:ext cx="576072" cy="777240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46404" y="4366260"/>
            <a:ext cx="1828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 spc="170">
                <a:solidFill>
                  <a:srgbClr val="6E6E73"/>
                </a:solidFill>
                <a:latin typeface="Helvetica Neue"/>
              </a:rPr>
              <a:t>BATCH FETCH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29800" y="3154680"/>
            <a:ext cx="0" cy="886968"/>
          </a:xfrm>
          <a:prstGeom prst="line">
            <a:avLst/>
          </a:prstGeom>
          <a:ln w="19050">
            <a:solidFill>
              <a:srgbClr val="AEAE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915400" y="3323844"/>
            <a:ext cx="1828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 spc="170">
                <a:solidFill>
                  <a:srgbClr val="6E6E73"/>
                </a:solidFill>
                <a:latin typeface="Helvetica Neue"/>
              </a:rPr>
              <a:t>DEPLOY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9d · Architecture — swim-lane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170">
                <a:solidFill>
                  <a:srgbClr val="1D4ED8"/>
                </a:solidFill>
                <a:latin typeface="Helvetica Neue"/>
              </a:rPr>
              <a:t>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2344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spc="-40">
                <a:solidFill>
                  <a:srgbClr val="1D1D1F"/>
                </a:solidFill>
                <a:latin typeface="Helvetica Neue"/>
              </a:rPr>
              <a:t>Image + caption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188720"/>
            <a:ext cx="5120640" cy="420624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9050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AEAEB2"/>
                </a:solidFill>
                <a:latin typeface="Helvetica Neue"/>
              </a:rPr>
              <a:t>[ image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24245"/>
                </a:solidFill>
                <a:latin typeface="Helvetica Neue"/>
              </a:rPr>
              <a:t>Body sits left; image fills the right half.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5486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E6E73"/>
                </a:solidFill>
                <a:latin typeface="Helvetica Neue"/>
              </a:rPr>
              <a:t>Figure 1 — caption in Slate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10 · Image + caption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94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spc="-40">
                <a:solidFill>
                  <a:srgbClr val="1D1D1F"/>
                </a:solidFill>
                <a:latin typeface="Helvetica Neue"/>
              </a:rPr>
              <a:t>“Good design is as little design as possible.”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— Dieter 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11 · Quote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05272" y="2468880"/>
            <a:ext cx="658368" cy="640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1D1D1F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6E6E73"/>
                </a:solidFill>
                <a:latin typeface="Helvetica Neue"/>
              </a:rPr>
              <a:t>questions → hello@example.com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AEAEB2"/>
                </a:solidFill>
                <a:latin typeface="Helvetica Neue"/>
              </a:rPr>
              <a:t>12 · 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2563EB"/>
      </a:accent1>
      <a:accent2>
        <a:srgbClr val="22B5B7"/>
      </a:accent2>
      <a:accent3>
        <a:srgbClr val="F97316"/>
      </a:accent3>
      <a:accent4>
        <a:srgbClr val="1D4ED8"/>
      </a:accent4>
      <a:accent5>
        <a:srgbClr val="0A6E6F"/>
      </a:accent5>
      <a:accent6>
        <a:srgbClr val="C2410C"/>
      </a:accent6>
      <a:hlink>
        <a:srgbClr val="2563EB"/>
      </a:hlink>
      <a:folHlink>
        <a:srgbClr val="1D4ED8"/>
      </a:folHlink>
    </a:clrScheme>
    <a:fontScheme name="Office">
      <a:maj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Helvetica Neu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