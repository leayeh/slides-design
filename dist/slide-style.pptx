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PRODUCT VISION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spc="-40">
                <a:solidFill>
                  <a:srgbClr val="1D1D1F"/>
                </a:solidFill>
                <a:latin typeface="Helvetica Neue"/>
              </a:rPr>
              <a:t>Designing with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minimalist system for professional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 · Cover /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93C5FD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spc="-40">
                <a:solidFill>
                  <a:srgbClr val="FFFFFF"/>
                </a:solidFill>
                <a:latin typeface="Helvetica Neue"/>
              </a:rPr>
              <a:t>The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2 · Section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spc="-40">
                <a:solidFill>
                  <a:srgbClr val="1D1D1F"/>
                </a:solidFill>
                <a:latin typeface="Helvetica Neue"/>
              </a:rPr>
              <a:t>Professionalism comes from hierarchy, not decoration.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3 · Big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Heading sits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copy in Graphite, generous line-height. One idea per slide; keep supporting detail tight and scannable.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4 · Heading +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What guides the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551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Hierarchy over decoration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369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One idea per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227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single accent, used deliberately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6085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26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Whitespace is a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5 · Minimal list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Two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First column body content sits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Second column body content sits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6 · Two column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Impact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3.2×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faster to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1D1F"/>
                </a:solidFill>
                <a:latin typeface="Helvetica Neue"/>
              </a:rPr>
              <a:t>100%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on-brand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12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layouts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7 · Color cards /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KEY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Highlight a term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6337A"/>
                </a:solidFill>
                <a:latin typeface="Helvetica Neue"/>
              </a:rPr>
              <a:t>the one number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Supporting sentence explains why it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8 · Highlight / callout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How a deck is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Content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title · body ·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Style template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theme + 12 layouts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3383280"/>
            <a:ext cx="502919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Claude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python-pptx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79" y="3383280"/>
            <a:ext cx="502921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18972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.pptx deck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editable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3383280"/>
            <a:ext cx="50292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9a · Architecture — 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Platform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C2410C"/>
                </a:solidFill>
                <a:latin typeface="Helvetica Neue"/>
              </a:rPr>
              <a:t>   Presentation ·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03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8FBFC"/>
          </a:solidFill>
          <a:ln w="22225">
            <a:solidFill>
              <a:srgbClr val="22B5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0A6E6F"/>
                </a:solidFill>
                <a:latin typeface="Helvetica Neue"/>
              </a:rPr>
              <a:t>   Application · services &amp;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1D4ED8"/>
                </a:solidFill>
                <a:latin typeface="Helvetica Neue"/>
              </a:rPr>
              <a:t>   Data · storage &amp; 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9b · Architecture — layered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Service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6E6E73"/>
                </a:solidFill>
                <a:latin typeface="Helvetica Neue"/>
              </a:rPr>
              <a:t>CORE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API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9c · Architecture — nested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Image + caption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188720"/>
            <a:ext cx="5120640" cy="420624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EAEB2"/>
                </a:solidFill>
                <a:latin typeface="Helvetica Neue"/>
              </a:rPr>
              <a:t>[ image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sits left; image fills the right half.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5486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E6E73"/>
                </a:solidFill>
                <a:latin typeface="Helvetica Neue"/>
              </a:rPr>
              <a:t>Figure 1 — caption in Slate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10 · Image + caption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94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spc="-40">
                <a:solidFill>
                  <a:srgbClr val="1D1D1F"/>
                </a:solidFill>
                <a:latin typeface="Helvetica Neue"/>
              </a:rPr>
              <a:t>“Good design is as little design as possible.”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— Dieter 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11 · Quote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05272" y="246888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1D1D1F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questions → hello@example.com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12 · 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2563EB"/>
      </a:accent1>
      <a:accent2>
        <a:srgbClr val="22B5B7"/>
      </a:accent2>
      <a:accent3>
        <a:srgbClr val="F97316"/>
      </a:accent3>
      <a:accent4>
        <a:srgbClr val="1D4ED8"/>
      </a:accent4>
      <a:accent5>
        <a:srgbClr val="0A6E6F"/>
      </a:accent5>
      <a:accent6>
        <a:srgbClr val="C2410C"/>
      </a:accent6>
      <a:hlink>
        <a:srgbClr val="2563EB"/>
      </a:hlink>
      <a:folHlink>
        <a:srgbClr val="1D4ED8"/>
      </a:folHlink>
    </a:clrScheme>
    <a:fontScheme name="Office">
      <a:maj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